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7ae679d5ce4afc" /><Relationship Type="http://schemas.openxmlformats.org/officeDocument/2006/relationships/extended-properties" Target="/docProps/app.xml" Id="R57ecd0f507424356" /><Relationship Type="http://schemas.openxmlformats.org/officeDocument/2006/relationships/officeDocument" Target="/ppt/presentation.xml" Id="R0d813910b32e4106" /></Relationships>
</file>

<file path=ppt/presentation.xml><?xml version="1.0" encoding="utf-8"?>
<p:presentation xmlns:p="http://schemas.openxmlformats.org/presentationml/2006/main">
  <p:sldMasterIdLst>
    <p:sldMasterId xmlns:r="http://schemas.openxmlformats.org/officeDocument/2006/relationships" id="2147483648" r:id="R20f6ae3f92b84061"/>
  </p:sldMasterIdLst>
  <p:notesMasterIdLst>
    <p:notesMasterId xmlns:r="http://schemas.openxmlformats.org/officeDocument/2006/relationships" r:id="R553d53b0026a4142"/>
  </p:notesMasterIdLst>
  <p:sldIdLst>
    <p:sldId xmlns:r="http://schemas.openxmlformats.org/officeDocument/2006/relationships" id="256" r:id="R45065aa447d1404e"/>
    <p:sldId xmlns:r="http://schemas.openxmlformats.org/officeDocument/2006/relationships" id="257" r:id="Rb69a1e3f68564983"/>
    <p:sldId xmlns:r="http://schemas.openxmlformats.org/officeDocument/2006/relationships" id="258" r:id="R621b9255695f426e"/>
    <p:sldId xmlns:r="http://schemas.openxmlformats.org/officeDocument/2006/relationships" id="259" r:id="R7f21820ec994481a"/>
    <p:sldId xmlns:r="http://schemas.openxmlformats.org/officeDocument/2006/relationships" id="260" r:id="Re05aa1adc50b4a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9e1cb974bf4de6" /><Relationship Type="http://schemas.openxmlformats.org/officeDocument/2006/relationships/slideMaster" Target="/ppt/slideMasters/slideMaster1.xml" Id="R20f6ae3f92b84061" /><Relationship Type="http://schemas.openxmlformats.org/officeDocument/2006/relationships/notesMaster" Target="/ppt/notesMasters/notesMaster1.xml" Id="R553d53b0026a4142" /><Relationship Type="http://schemas.openxmlformats.org/officeDocument/2006/relationships/presProps" Target="/ppt/presProps.xml" Id="Rdda07b0fced14d8f" /><Relationship Type="http://schemas.openxmlformats.org/officeDocument/2006/relationships/tableStyles" Target="/ppt/tableStyles.xml" Id="R7ae420126f634092" /><Relationship Type="http://schemas.openxmlformats.org/officeDocument/2006/relationships/slide" Target="/ppt/slides/slide1.xml" Id="R45065aa447d1404e" /><Relationship Type="http://schemas.openxmlformats.org/officeDocument/2006/relationships/slide" Target="/ppt/slides/slide2.xml" Id="Rb69a1e3f68564983" /><Relationship Type="http://schemas.openxmlformats.org/officeDocument/2006/relationships/slide" Target="/ppt/slides/slide3.xml" Id="R621b9255695f426e" /><Relationship Type="http://schemas.openxmlformats.org/officeDocument/2006/relationships/slide" Target="/ppt/slides/slide4.xml" Id="R7f21820ec994481a" /><Relationship Type="http://schemas.openxmlformats.org/officeDocument/2006/relationships/slide" Target="/ppt/slides/slide5.xml" Id="Re05aa1adc50b4a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c01ecb356249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GoodCall warm studio">
      <a:dk1>
        <a:srgbClr val="2E352C"/>
      </a:dk1>
      <a:lt1>
        <a:srgbClr val="FFFFFF"/>
      </a:lt1>
      <a:dk2>
        <a:srgbClr val="42493C"/>
      </a:dk2>
      <a:lt2>
        <a:srgbClr val="F6F3EB"/>
      </a:lt2>
      <a:accent1>
        <a:srgbClr val="A14E3A"/>
      </a:accent1>
      <a:accent2>
        <a:srgbClr val="65705E"/>
      </a:accent2>
      <a:accent3>
        <a:srgbClr val="718799"/>
      </a:accent3>
      <a:accent4>
        <a:srgbClr val="B18438"/>
      </a:accent4>
      <a:accent5>
        <a:srgbClr val="795565"/>
      </a:accent5>
      <a:accent6>
        <a:srgbClr val="546B3D"/>
      </a:accent6>
      <a:hlink>
        <a:srgbClr val="A14E3A"/>
      </a:hlink>
      <a:folHlink>
        <a:srgbClr val="A14E3A"/>
      </a:folHlink>
    </a:clrScheme>
    <a:fontScheme name="Office">
      <a:majorFont>
        <a:latin typeface="Calibri Light"/>
        <a:ea typeface="Calibri Light"/>
        <a:cs typeface="Calibri Light"/>
      </a:majorFont>
      <a:minorFont>
        <a:latin typeface="Calibri"/>
        <a:ea typeface="Calibri"/>
        <a:cs typeface="Calibri"/>
      </a:minorFont>
    </a:fontScheme>
    <a:fmtScheme name="GoodCall warm stud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04304585854f07" /><Relationship Type="http://schemas.openxmlformats.org/officeDocument/2006/relationships/notesMaster" Target="/ppt/notesMasters/notesMaster1.xml" Id="R9f8a14469d4343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7b41c894cf44a1" /><Relationship Type="http://schemas.openxmlformats.org/officeDocument/2006/relationships/notesMaster" Target="/ppt/notesMasters/notesMaster1.xml" Id="R6c14128c9b1e4a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6552df8e8f4606" /><Relationship Type="http://schemas.openxmlformats.org/officeDocument/2006/relationships/notesMaster" Target="/ppt/notesMasters/notesMaster1.xml" Id="Rf50c6954d83647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54fd29ff3c44ab" /><Relationship Type="http://schemas.openxmlformats.org/officeDocument/2006/relationships/notesMaster" Target="/ppt/notesMasters/notesMaster1.xml" Id="Rf700aa3a2e1440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622029aa6e4067" /><Relationship Type="http://schemas.openxmlformats.org/officeDocument/2006/relationships/notesMaster" Target="/ppt/notesMasters/notesMaster1.xml" Id="R197e9cf2b24140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 seconds</a:t>
            </a:r>
          </a:p>
          <a:p xmlns:a="http://schemas.openxmlformats.org/drawingml/2006/main">
            <a:r>
              <a:t/>
            </a:r>
          </a:p>
          <a:p xmlns:a="http://schemas.openxmlformats.org/drawingml/2006/main">
            <a:r>
              <a:t>Maya receives 4,800 messages a month and spends over 70 hours replying. People trust her judgement, and she’s answering alone.</a:t>
            </a:r>
          </a:p>
          <a:p xmlns:a="http://schemas.openxmlformats.org/drawingml/2006/main">
            <a:r>
              <a:t/>
            </a:r>
          </a:p>
          <a:p xmlns:a="http://schemas.openxmlformats.org/drawingml/2006/main">
            <a:r>
              <a:t>Presenter cue: Introduce the person and the pressure. Let the numbers do the work.</a:t>
            </a:r>
          </a:p>
          <a:p xmlns:a="http://schemas.openxmlformats.org/drawingml/2006/main">
            <a:r>
              <a:t/>
            </a:r>
          </a:p>
          <a:p xmlns:a="http://schemas.openxmlformats.org/drawingml/2006/main">
            <a:r>
              <a:t>Sources: Operation Shade Case File.pdf, pages 1–3. These are figures from the fictional exercise scenario, not measured usage of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11–24 seconds</a:t>
            </a:r>
          </a:p>
          <a:p xmlns:a="http://schemas.openxmlformats.org/drawingml/2006/main">
            <a:r>
              <a:t/>
            </a:r>
          </a:p>
          <a:p xmlns:a="http://schemas.openxmlformats.org/drawingml/2006/main">
            <a:r>
              <a:t>I built GoodCall to make that judgement reusable. Take Sarah’s question: is Cloud Cream worth £38? The canvas connects related questions, source evidence and an editable draft.</a:t>
            </a:r>
          </a:p>
          <a:p xmlns:a="http://schemas.openxmlformats.org/drawingml/2006/main">
            <a:r>
              <a:t/>
            </a:r>
          </a:p>
          <a:p xmlns:a="http://schemas.openxmlformats.org/drawingml/2006/main">
            <a:r>
              <a:t>Presenter cue: Switch to Sarah’s question on the live canvas if demonstrating the app. This slide is an editorial walkthrough of the recorded evidence.</a:t>
            </a:r>
          </a:p>
          <a:p xmlns:a="http://schemas.openxmlformats.org/drawingml/2006/main">
            <a:r>
              <a:t/>
            </a:r>
          </a:p>
          <a:p xmlns:a="http://schemas.openxmlformats.org/drawingml/2006/main">
            <a:r>
              <a:t>Sources: Operation Shade Case File.pdf, page 5 (Sarah’s original question, shortened here) and page 8 (Cloud Cream, £38, recorded note). Product implementation: maya-answer-canvas/README.md, src/components/AnswerCanvas.tsx and src/lib/engine.ts.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24–39 seconds</a:t>
            </a:r>
          </a:p>
          <a:p xmlns:a="http://schemas.openxmlformats.org/drawingml/2006/main">
            <a:r>
              <a:t/>
            </a:r>
          </a:p>
          <a:p xmlns:a="http://schemas.openxmlformats.org/drawingml/2006/main">
            <a:r>
              <a:t>The draft follows Maya’s dry, honest style. Each decision records who it’s for and when to skip it. Maya reviews it, and future answers can reuse it with fresh context checks.</a:t>
            </a:r>
          </a:p>
          <a:p xmlns:a="http://schemas.openxmlformats.org/drawingml/2006/main">
            <a:r>
              <a:t/>
            </a:r>
          </a:p>
          <a:p xmlns:a="http://schemas.openxmlformats.org/drawingml/2006/main">
            <a:r>
              <a:t>Presenter cue: Show the decision details and review controls. Describe reuse as a reviewed starting point, not model learning or automatic personal suitability.</a:t>
            </a:r>
          </a:p>
          <a:p xmlns:a="http://schemas.openxmlformats.org/drawingml/2006/main">
            <a:r>
              <a:t/>
            </a:r>
          </a:p>
          <a:p xmlns:a="http://schemas.openxmlformats.org/drawingml/2006/main">
            <a:r>
              <a:t>Sources: Operation Shade Case File.pdf, pages 3 and 6 (language and decision questions), page 8 (Cloud Cream dry/rich catalogue labels). The skip wording is a new illustrative persona example, not an original quote. Product implementation: DECISIONS.md, src/lib/decisionReuse.ts, src/components/DecisionProfile.tsx and src/components/ReusableAnswers.tsx.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39–48 seconds</a:t>
            </a:r>
          </a:p>
          <a:p xmlns:a="http://schemas.openxmlformats.org/drawingml/2006/main">
            <a:r>
              <a:t/>
            </a:r>
          </a:p>
          <a:p xmlns:a="http://schemas.openxmlformats.org/drawingml/2006/main">
            <a:r>
              <a:t>Missing product records hold recommendations for review. The dashboard also reports inconsistencies, with source references and a clear next action.</a:t>
            </a:r>
          </a:p>
          <a:p xmlns:a="http://schemas.openxmlformats.org/drawingml/2006/main">
            <a:r>
              <a:t/>
            </a:r>
          </a:p>
          <a:p xmlns:a="http://schemas.openxmlformats.org/drawingml/2006/main">
            <a:r>
              <a:t>Presenter cue: Open Jessica’s Barrier Cream draft or its evidence report. The missing product record is a concrete example. Administrative report findings do not automatically block unrelated answers.</a:t>
            </a:r>
          </a:p>
          <a:p xmlns:a="http://schemas.openxmlformats.org/drawingml/2006/main">
            <a:r>
              <a:t/>
            </a:r>
          </a:p>
          <a:p xmlns:a="http://schemas.openxmlformats.org/drawingml/2006/main">
            <a:r>
              <a:t>Sources: Operation Shade Case File.pdf, page 5 (Barrier Cream question) and page 8 (inventory with no Barrier Cream record). Product implementation: README.md, src/lib/seed.ts and src/lib/engine.ts. Checks cover bounded case-file patterns and are not comprehensive fact checking.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48–60 seconds</a:t>
            </a:r>
          </a:p>
          <a:p xmlns:a="http://schemas.openxmlformats.org/drawingml/2006/main">
            <a:r>
              <a:t/>
            </a:r>
          </a:p>
          <a:p xmlns:a="http://schemas.openxmlformats.org/drawingml/2006/main">
            <a:r>
              <a:t>There’s also chat with optional voice input and spoken replies. Followers can save and share approved advice, even without sending a DM. Maya’s judgement travels further, with Maya still making the call.</a:t>
            </a:r>
          </a:p>
          <a:p xmlns:a="http://schemas.openxmlformats.org/drawingml/2006/main">
            <a:r>
              <a:t/>
            </a:r>
          </a:p>
          <a:p xmlns:a="http://schemas.openxmlformats.org/drawingml/2006/main">
            <a:r>
              <a:t>Presenter cue: Show the follower advice page. If demonstrating chat, use typed input unless microphone capture has been checked on the presenting device.</a:t>
            </a:r>
          </a:p>
          <a:p xmlns:a="http://schemas.openxmlformats.org/drawingml/2006/main">
            <a:r>
              <a:t/>
            </a:r>
          </a:p>
          <a:p xmlns:a="http://schemas.openxmlformats.org/drawingml/2006/main">
            <a:r>
              <a:t>Sources: Operation Shade Case File.pdf, pages 9 and 14–15 (saving, sharing and return behaviour). Product implementation: README.md, DECISIONS.md, src/components/ChatPanel.tsx and src/components/AdvicePage.tsx. No live AI, Tano or social accounts are connected. Shared links are local-host snapshots. Voice is synthetic browser speech, not Maya’s original recording. No measured business impact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a09bdd19594e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949351a55549de" /><Relationship Type="http://schemas.openxmlformats.org/officeDocument/2006/relationships/slideLayout" Target="/ppt/slideLayouts/slideLayout1.xml" Id="R5f3907c6821f4f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3907c6821f4f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GoodCall warm studio">
      <a:dk1>
        <a:srgbClr val="2E352C"/>
      </a:dk1>
      <a:lt1>
        <a:srgbClr val="FFFFFF"/>
      </a:lt1>
      <a:dk2>
        <a:srgbClr val="42493C"/>
      </a:dk2>
      <a:lt2>
        <a:srgbClr val="F6F3EB"/>
      </a:lt2>
      <a:accent1>
        <a:srgbClr val="A14E3A"/>
      </a:accent1>
      <a:accent2>
        <a:srgbClr val="65705E"/>
      </a:accent2>
      <a:accent3>
        <a:srgbClr val="718799"/>
      </a:accent3>
      <a:accent4>
        <a:srgbClr val="B18438"/>
      </a:accent4>
      <a:accent5>
        <a:srgbClr val="795565"/>
      </a:accent5>
      <a:accent6>
        <a:srgbClr val="546B3D"/>
      </a:accent6>
      <a:hlink>
        <a:srgbClr val="A14E3A"/>
      </a:hlink>
      <a:folHlink>
        <a:srgbClr val="A14E3A"/>
      </a:folHlink>
    </a:clrScheme>
    <a:fontScheme name="Office">
      <a:majorFont>
        <a:latin typeface="Calibri Light"/>
        <a:ea typeface="Calibri Light"/>
        <a:cs typeface="Calibri Light"/>
      </a:majorFont>
      <a:minorFont>
        <a:latin typeface="Calibri"/>
        <a:ea typeface="Calibri"/>
        <a:cs typeface="Calibri"/>
      </a:minorFont>
    </a:fontScheme>
    <a:fmtScheme name="GoodCall warm stud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f4b907ae4f42ae" /><Relationship Type="http://schemas.openxmlformats.org/officeDocument/2006/relationships/notesSlide" Target="/ppt/notesSlides/notesSlide1.xml" Id="Rbc2dc8ee236544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0049ce4171490c" /><Relationship Type="http://schemas.openxmlformats.org/officeDocument/2006/relationships/notesSlide" Target="/ppt/notesSlides/notesSlide2.xml" Id="R97ce890baf4848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30be23c12046ef" /><Relationship Type="http://schemas.openxmlformats.org/officeDocument/2006/relationships/notesSlide" Target="/ppt/notesSlides/notesSlide3.xml" Id="Rdcd199d327c945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19ed49859b4e5c" /><Relationship Type="http://schemas.openxmlformats.org/officeDocument/2006/relationships/notesSlide" Target="/ppt/notesSlides/notesSlide4.xml" Id="Rdc1f72b1986d42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bd7b00b63547ea" /><Relationship Type="http://schemas.openxmlformats.org/officeDocument/2006/relationships/notesSlide" Target="/ppt/notesSlides/notesSlide5.xml" Id="Rac44eb5e307b41b3" /></Relationships>
</file>

<file path=ppt/slides/slide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9" name="page-number">
            <a:extLst xmlns:a="http://schemas.openxmlformats.org/drawingml/2006/main">
              <a:ext uri="{FF2B5EF4-FFF2-40B4-BE49-F238E27FC236}">
                <a16:creationId xmlns:a16="http://schemas.microsoft.com/office/drawing/2014/main" id="{68CDD305-7546-4411-8EE2-20DAEFF862FF}"/>
              </a:ext>
            </a:extLst>
          </p:cNvPr>
          <p:cNvSpPr>
            <a:spLocks xmlns:a="http://schemas.openxmlformats.org/drawingml/2006/main" noGrp="1"/>
          </p:cNvSpPr>
          <p:nvPr/>
        </p:nvSpPr>
        <p:spPr>
          <a:xfrm xmlns:a="http://schemas.openxmlformats.org/drawingml/2006/main">
            <a:off x="11049000" y="62674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i="0">
                <a:solidFill>
                  <a:srgbClr val="65705E"/>
                </a:solidFill>
                <a:latin typeface="Helvetica Neue"/>
                <a:ea typeface="Helvetica Neue"/>
                <a:cs typeface="Helvetica Neue"/>
              </a:defRPr>
            </a:pPr>
            <a:r>
              <a:rPr sz="1350" b="0" i="0">
                <a:solidFill>
                  <a:srgbClr val="65705E"/>
                </a:solidFill>
                <a:latin typeface="Helvetica Neue"/>
                <a:ea typeface="Helvetica Neue"/>
                <a:cs typeface="Helvetica Neue"/>
              </a:rPr>
              <a:t>01</a:t>
            </a:r>
          </a:p>
        </p:txBody>
      </p:sp>
      <p:sp>
        <p:nvSpPr>
          <p:cNvPr id="2" name="deck-title">
            <a:extLst xmlns:a="http://schemas.openxmlformats.org/drawingml/2006/main">
              <a:ext uri="{FF2B5EF4-FFF2-40B4-BE49-F238E27FC236}">
                <a16:creationId xmlns:a16="http://schemas.microsoft.com/office/drawing/2014/main" id="{C38020C9-21B7-4CD6-929F-EDE5218AF984}"/>
              </a:ext>
            </a:extLst>
          </p:cNvPr>
          <p:cNvSpPr>
            <a:spLocks xmlns:a="http://schemas.openxmlformats.org/drawingml/2006/main" noGrp="1"/>
          </p:cNvSpPr>
          <p:nvPr/>
        </p:nvSpPr>
        <p:spPr>
          <a:xfrm xmlns:a="http://schemas.openxmlformats.org/drawingml/2006/main">
            <a:off x="762000" y="6381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150" b="0" i="0">
                <a:solidFill>
                  <a:srgbClr val="2E352C"/>
                </a:solidFill>
                <a:latin typeface="Georgia"/>
                <a:ea typeface="Georgia"/>
                <a:cs typeface="Georgia"/>
              </a:defRPr>
            </a:pPr>
            <a:r>
              <a:rPr sz="6150" b="0" i="0">
                <a:solidFill>
                  <a:srgbClr val="2E352C"/>
                </a:solidFill>
                <a:latin typeface="Georgia"/>
                <a:ea typeface="Georgia"/>
                <a:cs typeface="Georgia"/>
              </a:rPr>
              <a:t>GoodCall</a:t>
            </a:r>
          </a:p>
        </p:txBody>
      </p:sp>
      <p:sp>
        <p:nvSpPr>
          <p:cNvPr id="3" name="volume">
            <a:extLst xmlns:a="http://schemas.openxmlformats.org/drawingml/2006/main">
              <a:ext uri="{FF2B5EF4-FFF2-40B4-BE49-F238E27FC236}">
                <a16:creationId xmlns:a16="http://schemas.microsoft.com/office/drawing/2014/main" id="{B6780987-4E3B-4266-9B39-1DFEDCCD99D0}"/>
              </a:ext>
            </a:extLst>
          </p:cNvPr>
          <p:cNvSpPr>
            <a:spLocks xmlns:a="http://schemas.openxmlformats.org/drawingml/2006/main" noGrp="1"/>
          </p:cNvSpPr>
          <p:nvPr/>
        </p:nvSpPr>
        <p:spPr>
          <a:xfrm xmlns:a="http://schemas.openxmlformats.org/drawingml/2006/main">
            <a:off x="714375" y="2266950"/>
            <a:ext cx="59055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0" b="0" i="0">
                <a:solidFill>
                  <a:srgbClr val="A14E3A"/>
                </a:solidFill>
                <a:latin typeface="Helvetica Neue"/>
                <a:ea typeface="Helvetica Neue"/>
                <a:cs typeface="Helvetica Neue"/>
              </a:defRPr>
            </a:pPr>
            <a:r>
              <a:rPr sz="9750" b="0" i="0">
                <a:solidFill>
                  <a:srgbClr val="A14E3A"/>
                </a:solidFill>
                <a:latin typeface="Helvetica Neue"/>
                <a:ea typeface="Helvetica Neue"/>
                <a:cs typeface="Helvetica Neue"/>
              </a:rPr>
              <a:t>4,800</a:t>
            </a:r>
          </a:p>
        </p:txBody>
      </p:sp>
      <p:sp>
        <p:nvSpPr>
          <p:cNvPr id="4" name="volume-label">
            <a:extLst xmlns:a="http://schemas.openxmlformats.org/drawingml/2006/main">
              <a:ext uri="{FF2B5EF4-FFF2-40B4-BE49-F238E27FC236}">
                <a16:creationId xmlns:a16="http://schemas.microsoft.com/office/drawing/2014/main" id="{30D58DFA-5A56-42A4-A360-4AFEB83D759E}"/>
              </a:ext>
            </a:extLst>
          </p:cNvPr>
          <p:cNvSpPr>
            <a:spLocks xmlns:a="http://schemas.openxmlformats.org/drawingml/2006/main" noGrp="1"/>
          </p:cNvSpPr>
          <p:nvPr/>
        </p:nvSpPr>
        <p:spPr>
          <a:xfrm xmlns:a="http://schemas.openxmlformats.org/drawingml/2006/main">
            <a:off x="800100" y="3905250"/>
            <a:ext cx="542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i="0">
                <a:solidFill>
                  <a:srgbClr val="2E352C"/>
                </a:solidFill>
                <a:latin typeface="Helvetica Neue"/>
                <a:ea typeface="Helvetica Neue"/>
                <a:cs typeface="Helvetica Neue"/>
              </a:defRPr>
            </a:pPr>
            <a:r>
              <a:rPr sz="2250" b="0" i="0">
                <a:solidFill>
                  <a:srgbClr val="2E352C"/>
                </a:solidFill>
                <a:latin typeface="Helvetica Neue"/>
                <a:ea typeface="Helvetica Neue"/>
                <a:cs typeface="Helvetica Neue"/>
              </a:rPr>
              <a:t>messages each month</a:t>
            </a:r>
          </a:p>
        </p:txBody>
      </p:sp>
      <p:sp>
        <p:nvSpPr>
          <p:cNvPr id="5" name="time">
            <a:extLst xmlns:a="http://schemas.openxmlformats.org/drawingml/2006/main">
              <a:ext uri="{FF2B5EF4-FFF2-40B4-BE49-F238E27FC236}">
                <a16:creationId xmlns:a16="http://schemas.microsoft.com/office/drawing/2014/main" id="{C9307867-EAF8-461D-8196-51C94511786F}"/>
              </a:ext>
            </a:extLst>
          </p:cNvPr>
          <p:cNvSpPr>
            <a:spLocks xmlns:a="http://schemas.openxmlformats.org/drawingml/2006/main" noGrp="1"/>
          </p:cNvSpPr>
          <p:nvPr/>
        </p:nvSpPr>
        <p:spPr>
          <a:xfrm xmlns:a="http://schemas.openxmlformats.org/drawingml/2006/main">
            <a:off x="7115175" y="2266950"/>
            <a:ext cx="4238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750" b="0" i="0">
                <a:solidFill>
                  <a:srgbClr val="2E352C"/>
                </a:solidFill>
                <a:latin typeface="Helvetica Neue"/>
                <a:ea typeface="Helvetica Neue"/>
                <a:cs typeface="Helvetica Neue"/>
              </a:defRPr>
            </a:pPr>
            <a:r>
              <a:rPr sz="9750" b="0" i="0">
                <a:solidFill>
                  <a:srgbClr val="2E352C"/>
                </a:solidFill>
                <a:latin typeface="Helvetica Neue"/>
                <a:ea typeface="Helvetica Neue"/>
                <a:cs typeface="Helvetica Neue"/>
              </a:rPr>
              <a:t>70+</a:t>
            </a:r>
          </a:p>
        </p:txBody>
      </p:sp>
      <p:sp>
        <p:nvSpPr>
          <p:cNvPr id="6" name="time-label">
            <a:extLst xmlns:a="http://schemas.openxmlformats.org/drawingml/2006/main">
              <a:ext uri="{FF2B5EF4-FFF2-40B4-BE49-F238E27FC236}">
                <a16:creationId xmlns:a16="http://schemas.microsoft.com/office/drawing/2014/main" id="{C54ED318-7E90-4E85-ACCE-F63F076225E5}"/>
              </a:ext>
            </a:extLst>
          </p:cNvPr>
          <p:cNvSpPr>
            <a:spLocks xmlns:a="http://schemas.openxmlformats.org/drawingml/2006/main" noGrp="1"/>
          </p:cNvSpPr>
          <p:nvPr/>
        </p:nvSpPr>
        <p:spPr>
          <a:xfrm xmlns:a="http://schemas.openxmlformats.org/drawingml/2006/main">
            <a:off x="7239000" y="3905250"/>
            <a:ext cx="4143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i="0">
                <a:solidFill>
                  <a:srgbClr val="2E352C"/>
                </a:solidFill>
                <a:latin typeface="Helvetica Neue"/>
                <a:ea typeface="Helvetica Neue"/>
                <a:cs typeface="Helvetica Neue"/>
              </a:defRPr>
            </a:pPr>
            <a:r>
              <a:rPr sz="2250" b="0" i="0">
                <a:solidFill>
                  <a:srgbClr val="2E352C"/>
                </a:solidFill>
                <a:latin typeface="Helvetica Neue"/>
                <a:ea typeface="Helvetica Neue"/>
                <a:cs typeface="Helvetica Neue"/>
              </a:rPr>
              <a:t>hours spent replying</a:t>
            </a:r>
          </a:p>
        </p:txBody>
      </p:sp>
      <p:sp>
        <p:nvSpPr>
          <p:cNvPr id="7" name="problem-line">
            <a:extLst xmlns:a="http://schemas.openxmlformats.org/drawingml/2006/main">
              <a:ext uri="{FF2B5EF4-FFF2-40B4-BE49-F238E27FC236}">
                <a16:creationId xmlns:a16="http://schemas.microsoft.com/office/drawing/2014/main" id="{2A403003-6F18-4CAC-BCFB-423D0F8362BD}"/>
              </a:ext>
            </a:extLst>
          </p:cNvPr>
          <p:cNvSpPr>
            <a:spLocks xmlns:a="http://schemas.openxmlformats.org/drawingml/2006/main" noGrp="1"/>
          </p:cNvSpPr>
          <p:nvPr/>
        </p:nvSpPr>
        <p:spPr>
          <a:xfrm xmlns:a="http://schemas.openxmlformats.org/drawingml/2006/main">
            <a:off x="800100" y="516255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i="0">
                <a:solidFill>
                  <a:srgbClr val="2E352C"/>
                </a:solidFill>
                <a:latin typeface="Georgia"/>
                <a:ea typeface="Georgia"/>
                <a:cs typeface="Georgia"/>
              </a:defRPr>
            </a:pPr>
            <a:r>
              <a:rPr sz="2775" b="0" i="0">
                <a:solidFill>
                  <a:srgbClr val="2E352C"/>
                </a:solidFill>
                <a:latin typeface="Georgia"/>
                <a:ea typeface="Georgia"/>
                <a:cs typeface="Georgia"/>
              </a:rPr>
              <a:t>One creator answering alone.</a:t>
            </a:r>
          </a:p>
        </p:txBody>
      </p:sp>
      <p:sp>
        <p:nvSpPr>
          <p:cNvPr id="8" name="case-context">
            <a:extLst xmlns:a="http://schemas.openxmlformats.org/drawingml/2006/main">
              <a:ext uri="{FF2B5EF4-FFF2-40B4-BE49-F238E27FC236}">
                <a16:creationId xmlns:a16="http://schemas.microsoft.com/office/drawing/2014/main" id="{E311008D-62A2-4DFC-8241-EFE89700925D}"/>
              </a:ext>
            </a:extLst>
          </p:cNvPr>
          <p:cNvSpPr>
            <a:spLocks xmlns:a="http://schemas.openxmlformats.org/drawingml/2006/main" noGrp="1"/>
          </p:cNvSpPr>
          <p:nvPr/>
        </p:nvSpPr>
        <p:spPr>
          <a:xfrm xmlns:a="http://schemas.openxmlformats.org/drawingml/2006/main">
            <a:off x="800100" y="623887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i="0">
                <a:solidFill>
                  <a:srgbClr val="65705E"/>
                </a:solidFill>
                <a:latin typeface="Helvetica Neue"/>
                <a:ea typeface="Helvetica Neue"/>
                <a:cs typeface="Helvetica Neue"/>
              </a:defRPr>
            </a:pPr>
            <a:r>
              <a:rPr sz="1425" b="0" i="0">
                <a:solidFill>
                  <a:srgbClr val="65705E"/>
                </a:solidFill>
                <a:latin typeface="Helvetica Neue"/>
                <a:ea typeface="Helvetica Neue"/>
                <a:cs typeface="Helvetica Neue"/>
              </a:rPr>
              <a:t>Operation Shade case-file scenario</a:t>
            </a:r>
          </a:p>
        </p:txBody>
      </p:sp>
    </p:spTree>
    <p:extLst>
      <p:ext uri="{BB962C8B-B14F-4D97-AF65-F5344CB8AC3E}">
        <p14:creationId xmlns:p14="http://schemas.microsoft.com/office/powerpoint/2010/main" val="1072104077"/>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0" name="page-number">
            <a:extLst xmlns:a="http://schemas.openxmlformats.org/drawingml/2006/main">
              <a:ext uri="{FF2B5EF4-FFF2-40B4-BE49-F238E27FC236}">
                <a16:creationId xmlns:a16="http://schemas.microsoft.com/office/drawing/2014/main" id="{DF6A16B4-4FC6-4B98-B9B4-BFDEB9278E8C}"/>
              </a:ext>
            </a:extLst>
          </p:cNvPr>
          <p:cNvSpPr>
            <a:spLocks xmlns:a="http://schemas.openxmlformats.org/drawingml/2006/main" noGrp="1"/>
          </p:cNvSpPr>
          <p:nvPr/>
        </p:nvSpPr>
        <p:spPr>
          <a:xfrm xmlns:a="http://schemas.openxmlformats.org/drawingml/2006/main">
            <a:off x="11049000" y="62674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i="0">
                <a:solidFill>
                  <a:srgbClr val="65705E"/>
                </a:solidFill>
                <a:latin typeface="Helvetica Neue"/>
                <a:ea typeface="Helvetica Neue"/>
                <a:cs typeface="Helvetica Neue"/>
              </a:defRPr>
            </a:pPr>
            <a:r>
              <a:rPr sz="1350" b="0" i="0">
                <a:solidFill>
                  <a:srgbClr val="65705E"/>
                </a:solidFill>
                <a:latin typeface="Helvetica Neue"/>
                <a:ea typeface="Helvetica Neue"/>
                <a:cs typeface="Helvetica Neue"/>
              </a:rPr>
              <a:t>02</a:t>
            </a:r>
          </a:p>
        </p:txBody>
      </p:sp>
      <p:sp>
        <p:nvSpPr>
          <p:cNvPr id="2" name="title">
            <a:extLst xmlns:a="http://schemas.openxmlformats.org/drawingml/2006/main">
              <a:ext uri="{FF2B5EF4-FFF2-40B4-BE49-F238E27FC236}">
                <a16:creationId xmlns:a16="http://schemas.microsoft.com/office/drawing/2014/main" id="{84B2B2FA-9D49-4644-ACE5-1D80436A6F82}"/>
              </a:ext>
            </a:extLst>
          </p:cNvPr>
          <p:cNvSpPr>
            <a:spLocks xmlns:a="http://schemas.openxmlformats.org/drawingml/2006/main" noGrp="1"/>
          </p:cNvSpPr>
          <p:nvPr/>
        </p:nvSpPr>
        <p:spPr>
          <a:xfrm xmlns:a="http://schemas.openxmlformats.org/drawingml/2006/main">
            <a:off x="762000" y="6572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350" b="0" i="0">
                <a:solidFill>
                  <a:srgbClr val="2E352C"/>
                </a:solidFill>
                <a:latin typeface="Georgia"/>
                <a:ea typeface="Georgia"/>
                <a:cs typeface="Georgia"/>
              </a:defRPr>
            </a:pPr>
            <a:r>
              <a:rPr sz="4350" b="0" i="0">
                <a:solidFill>
                  <a:srgbClr val="2E352C"/>
                </a:solidFill>
                <a:latin typeface="Georgia"/>
                <a:ea typeface="Georgia"/>
                <a:cs typeface="Georgia"/>
              </a:rPr>
              <a:t>Sarah’s £38 question</a:t>
            </a:r>
          </a:p>
        </p:txBody>
      </p:sp>
      <p:sp>
        <p:nvSpPr>
          <p:cNvPr id="3" name="question-label">
            <a:extLst xmlns:a="http://schemas.openxmlformats.org/drawingml/2006/main">
              <a:ext uri="{FF2B5EF4-FFF2-40B4-BE49-F238E27FC236}">
                <a16:creationId xmlns:a16="http://schemas.microsoft.com/office/drawing/2014/main" id="{8A5D9052-B498-4AE9-93D6-0C4163D87545}"/>
              </a:ext>
            </a:extLst>
          </p:cNvPr>
          <p:cNvSpPr>
            <a:spLocks xmlns:a="http://schemas.openxmlformats.org/drawingml/2006/main" noGrp="1"/>
          </p:cNvSpPr>
          <p:nvPr/>
        </p:nvSpPr>
        <p:spPr>
          <a:xfrm xmlns:a="http://schemas.openxmlformats.org/drawingml/2006/main">
            <a:off x="800100" y="1952625"/>
            <a:ext cx="600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65705E"/>
                </a:solidFill>
                <a:latin typeface="Helvetica Neue"/>
                <a:ea typeface="Helvetica Neue"/>
                <a:cs typeface="Helvetica Neue"/>
              </a:defRPr>
            </a:pPr>
            <a:r>
              <a:rPr sz="1500" b="0" i="0">
                <a:solidFill>
                  <a:srgbClr val="65705E"/>
                </a:solidFill>
                <a:latin typeface="Helvetica Neue"/>
                <a:ea typeface="Helvetica Neue"/>
                <a:cs typeface="Helvetica Neue"/>
              </a:rPr>
              <a:t>THE FOLLOWER’S QUESTION</a:t>
            </a:r>
          </a:p>
        </p:txBody>
      </p:sp>
      <p:sp>
        <p:nvSpPr>
          <p:cNvPr id="4" name="question">
            <a:extLst xmlns:a="http://schemas.openxmlformats.org/drawingml/2006/main">
              <a:ext uri="{FF2B5EF4-FFF2-40B4-BE49-F238E27FC236}">
                <a16:creationId xmlns:a16="http://schemas.microsoft.com/office/drawing/2014/main" id="{EA963710-2BD7-4EC2-8D08-F31C2D4DD817}"/>
              </a:ext>
            </a:extLst>
          </p:cNvPr>
          <p:cNvSpPr>
            <a:spLocks xmlns:a="http://schemas.openxmlformats.org/drawingml/2006/main" noGrp="1"/>
          </p:cNvSpPr>
          <p:nvPr/>
        </p:nvSpPr>
        <p:spPr>
          <a:xfrm xmlns:a="http://schemas.openxmlformats.org/drawingml/2006/main">
            <a:off x="762000" y="2476500"/>
            <a:ext cx="6381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00" b="0" i="0">
                <a:solidFill>
                  <a:srgbClr val="2E352C"/>
                </a:solidFill>
                <a:latin typeface="Georgia"/>
                <a:ea typeface="Georgia"/>
                <a:cs typeface="Georgia"/>
              </a:defRPr>
            </a:pPr>
            <a:r>
              <a:rPr sz="4200" b="0" i="0">
                <a:solidFill>
                  <a:srgbClr val="2E352C"/>
                </a:solidFill>
                <a:latin typeface="Georgia"/>
                <a:ea typeface="Georgia"/>
                <a:cs typeface="Georgia"/>
              </a:rPr>
              <a:t>“Is Cloud Cream</a:t>
            </a:r>
          </a:p>
          <a:p xmlns:a="http://schemas.openxmlformats.org/drawingml/2006/main">
            <a:pPr algn="l">
              <a:lnSpc>
                <a:spcPct val="112000"/>
              </a:lnSpc>
              <a:buNone/>
              <a:defRPr sz="4200" b="0" i="0">
                <a:solidFill>
                  <a:srgbClr val="2E352C"/>
                </a:solidFill>
                <a:latin typeface="Georgia"/>
                <a:ea typeface="Georgia"/>
                <a:cs typeface="Georgia"/>
              </a:defRPr>
            </a:pPr>
            <a:r>
              <a:rPr sz="4200" b="0" i="0">
                <a:solidFill>
                  <a:srgbClr val="2E352C"/>
                </a:solidFill>
                <a:latin typeface="Georgia"/>
                <a:ea typeface="Georgia"/>
                <a:cs typeface="Georgia"/>
              </a:rPr>
              <a:t>actually worth £38?”</a:t>
            </a:r>
          </a:p>
        </p:txBody>
      </p:sp>
      <p:sp>
        <p:nvSpPr>
          <p:cNvPr id="5" name="product-label">
            <a:extLst xmlns:a="http://schemas.openxmlformats.org/drawingml/2006/main">
              <a:ext uri="{FF2B5EF4-FFF2-40B4-BE49-F238E27FC236}">
                <a16:creationId xmlns:a16="http://schemas.microsoft.com/office/drawing/2014/main" id="{50B9E65F-4585-4E10-B2AA-8B53D52E5CA5}"/>
              </a:ext>
            </a:extLst>
          </p:cNvPr>
          <p:cNvSpPr>
            <a:spLocks xmlns:a="http://schemas.openxmlformats.org/drawingml/2006/main" noGrp="1"/>
          </p:cNvSpPr>
          <p:nvPr/>
        </p:nvSpPr>
        <p:spPr>
          <a:xfrm xmlns:a="http://schemas.openxmlformats.org/drawingml/2006/main">
            <a:off x="7867650" y="1952625"/>
            <a:ext cx="3590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65705E"/>
                </a:solidFill>
                <a:latin typeface="Helvetica Neue"/>
                <a:ea typeface="Helvetica Neue"/>
                <a:cs typeface="Helvetica Neue"/>
              </a:defRPr>
            </a:pPr>
            <a:r>
              <a:rPr sz="1500" b="0" i="0">
                <a:solidFill>
                  <a:srgbClr val="65705E"/>
                </a:solidFill>
                <a:latin typeface="Helvetica Neue"/>
                <a:ea typeface="Helvetica Neue"/>
                <a:cs typeface="Helvetica Neue"/>
              </a:rPr>
              <a:t>THE RECORDED EVIDENCE</a:t>
            </a:r>
          </a:p>
        </p:txBody>
      </p:sp>
      <p:sp>
        <p:nvSpPr>
          <p:cNvPr id="6" name="product-name">
            <a:extLst xmlns:a="http://schemas.openxmlformats.org/drawingml/2006/main">
              <a:ext uri="{FF2B5EF4-FFF2-40B4-BE49-F238E27FC236}">
                <a16:creationId xmlns:a16="http://schemas.microsoft.com/office/drawing/2014/main" id="{50F6421B-29C3-44EC-AEEF-F7A1D3312712}"/>
              </a:ext>
            </a:extLst>
          </p:cNvPr>
          <p:cNvSpPr>
            <a:spLocks xmlns:a="http://schemas.openxmlformats.org/drawingml/2006/main" noGrp="1"/>
          </p:cNvSpPr>
          <p:nvPr/>
        </p:nvSpPr>
        <p:spPr>
          <a:xfrm xmlns:a="http://schemas.openxmlformats.org/drawingml/2006/main">
            <a:off x="7867650" y="2524125"/>
            <a:ext cx="3600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i="0">
                <a:solidFill>
                  <a:srgbClr val="2E352C"/>
                </a:solidFill>
                <a:latin typeface="Helvetica Neue"/>
                <a:ea typeface="Helvetica Neue"/>
                <a:cs typeface="Helvetica Neue"/>
              </a:defRPr>
            </a:pPr>
            <a:r>
              <a:rPr sz="2550" b="1" i="0">
                <a:solidFill>
                  <a:srgbClr val="2E352C"/>
                </a:solidFill>
                <a:latin typeface="Helvetica Neue"/>
                <a:ea typeface="Helvetica Neue"/>
                <a:cs typeface="Helvetica Neue"/>
              </a:rPr>
              <a:t>Cloud Cream</a:t>
            </a:r>
          </a:p>
        </p:txBody>
      </p:sp>
      <p:sp>
        <p:nvSpPr>
          <p:cNvPr id="7" name="product-price">
            <a:extLst xmlns:a="http://schemas.openxmlformats.org/drawingml/2006/main">
              <a:ext uri="{FF2B5EF4-FFF2-40B4-BE49-F238E27FC236}">
                <a16:creationId xmlns:a16="http://schemas.microsoft.com/office/drawing/2014/main" id="{852FD5F1-BA67-47E5-8EB8-FB22D23491F2}"/>
              </a:ext>
            </a:extLst>
          </p:cNvPr>
          <p:cNvSpPr>
            <a:spLocks xmlns:a="http://schemas.openxmlformats.org/drawingml/2006/main" noGrp="1"/>
          </p:cNvSpPr>
          <p:nvPr/>
        </p:nvSpPr>
        <p:spPr>
          <a:xfrm xmlns:a="http://schemas.openxmlformats.org/drawingml/2006/main">
            <a:off x="7867650" y="3105150"/>
            <a:ext cx="3562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025" b="0" i="0">
                <a:solidFill>
                  <a:srgbClr val="A14E3A"/>
                </a:solidFill>
                <a:latin typeface="Helvetica Neue"/>
                <a:ea typeface="Helvetica Neue"/>
                <a:cs typeface="Helvetica Neue"/>
              </a:defRPr>
            </a:pPr>
            <a:r>
              <a:rPr sz="5025" b="0" i="0">
                <a:solidFill>
                  <a:srgbClr val="A14E3A"/>
                </a:solidFill>
                <a:latin typeface="Helvetica Neue"/>
                <a:ea typeface="Helvetica Neue"/>
                <a:cs typeface="Helvetica Neue"/>
              </a:rPr>
              <a:t>£38</a:t>
            </a:r>
          </a:p>
        </p:txBody>
      </p:sp>
      <p:sp>
        <p:nvSpPr>
          <p:cNvPr id="8" name="product-note">
            <a:extLst xmlns:a="http://schemas.openxmlformats.org/drawingml/2006/main">
              <a:ext uri="{FF2B5EF4-FFF2-40B4-BE49-F238E27FC236}">
                <a16:creationId xmlns:a16="http://schemas.microsoft.com/office/drawing/2014/main" id="{D6037B35-23AE-4BDC-AC20-D9DA2CDFE9EC}"/>
              </a:ext>
            </a:extLst>
          </p:cNvPr>
          <p:cNvSpPr>
            <a:spLocks xmlns:a="http://schemas.openxmlformats.org/drawingml/2006/main" noGrp="1"/>
          </p:cNvSpPr>
          <p:nvPr/>
        </p:nvSpPr>
        <p:spPr>
          <a:xfrm xmlns:a="http://schemas.openxmlformats.org/drawingml/2006/main">
            <a:off x="7867650" y="409575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i="0">
                <a:solidFill>
                  <a:srgbClr val="2E352C"/>
                </a:solidFill>
                <a:latin typeface="Georgia"/>
                <a:ea typeface="Georgia"/>
                <a:cs typeface="Georgia"/>
              </a:defRPr>
            </a:pPr>
            <a:r>
              <a:rPr sz="2175" b="0" i="0">
                <a:solidFill>
                  <a:srgbClr val="2E352C"/>
                </a:solidFill>
                <a:latin typeface="Georgia"/>
                <a:ea typeface="Georgia"/>
                <a:cs typeface="Georgia"/>
              </a:rPr>
              <a:t>“My winter skin saviour.”</a:t>
            </a:r>
          </a:p>
        </p:txBody>
      </p:sp>
      <p:sp>
        <p:nvSpPr>
          <p:cNvPr id="9" name="workflow">
            <a:extLst xmlns:a="http://schemas.openxmlformats.org/drawingml/2006/main">
              <a:ext uri="{FF2B5EF4-FFF2-40B4-BE49-F238E27FC236}">
                <a16:creationId xmlns:a16="http://schemas.microsoft.com/office/drawing/2014/main" id="{B832FD34-D377-4058-B611-C5AA25671BF4}"/>
              </a:ext>
            </a:extLst>
          </p:cNvPr>
          <p:cNvSpPr>
            <a:spLocks xmlns:a="http://schemas.openxmlformats.org/drawingml/2006/main" noGrp="1"/>
          </p:cNvSpPr>
          <p:nvPr/>
        </p:nvSpPr>
        <p:spPr>
          <a:xfrm xmlns:a="http://schemas.openxmlformats.org/drawingml/2006/main">
            <a:off x="800100" y="5238750"/>
            <a:ext cx="10477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i="0">
                <a:solidFill>
                  <a:srgbClr val="2E352C"/>
                </a:solidFill>
                <a:latin typeface="Helvetica Neue"/>
                <a:ea typeface="Helvetica Neue"/>
                <a:cs typeface="Helvetica Neue"/>
              </a:defRPr>
            </a:pPr>
            <a:r>
              <a:rPr sz="2175" b="0" i="0">
                <a:solidFill>
                  <a:srgbClr val="2E352C"/>
                </a:solidFill>
                <a:latin typeface="Helvetica Neue"/>
                <a:ea typeface="Helvetica Neue"/>
                <a:cs typeface="Helvetica Neue"/>
              </a:rPr>
              <a:t>Related questions, product facts and an editable draft</a:t>
            </a:r>
          </a:p>
          <a:p xmlns:a="http://schemas.openxmlformats.org/drawingml/2006/main">
            <a:pPr algn="l">
              <a:lnSpc>
                <a:spcPct val="112000"/>
              </a:lnSpc>
              <a:buNone/>
              <a:defRPr sz="2175" b="0" i="0">
                <a:solidFill>
                  <a:srgbClr val="2E352C"/>
                </a:solidFill>
                <a:latin typeface="Helvetica Neue"/>
                <a:ea typeface="Helvetica Neue"/>
                <a:cs typeface="Helvetica Neue"/>
              </a:defRPr>
            </a:pPr>
            <a:r>
              <a:rPr sz="2175" b="0" i="0">
                <a:solidFill>
                  <a:srgbClr val="2E352C"/>
                </a:solidFill>
                <a:latin typeface="Helvetica Neue"/>
                <a:ea typeface="Helvetica Neue"/>
                <a:cs typeface="Helvetica Neue"/>
              </a:rPr>
              <a:t>share one canvas.</a:t>
            </a:r>
          </a:p>
        </p:txBody>
      </p:sp>
    </p:spTree>
    <p:extLst>
      <p:ext uri="{BB962C8B-B14F-4D97-AF65-F5344CB8AC3E}">
        <p14:creationId xmlns:p14="http://schemas.microsoft.com/office/powerpoint/2010/main" val="2132421234"/>
      </p:ext>
    </p:extLst>
  </p:cSld>
</p:sld>
</file>

<file path=ppt/slides/slide3.xml><?xml version="1.0" encoding="utf-8"?>
<p:sld xmlns:p="http://schemas.openxmlformats.org/presentationml/2006/main">
  <p:cSld>
    <p:bg>
      <p:bgPr>
        <a:solidFill xmlns:a="http://schemas.openxmlformats.org/drawingml/2006/main">
          <a:srgbClr val="2E352C"/>
        </a:solidFill>
      </p:bgPr>
    </p:bg>
    <p:spTree>
      <p:nvGrpSpPr>
        <p:cNvPr id="1" name=""/>
        <p:cNvGrpSpPr/>
        <p:nvPr/>
      </p:nvGrpSpPr>
      <p:grpSpPr>
        <a:xfrm xmlns:a="http://schemas.openxmlformats.org/drawingml/2006/main"/>
      </p:grpSpPr>
      <p:sp>
        <p:nvSpPr>
          <p:cNvPr id="9" name="page-number">
            <a:extLst xmlns:a="http://schemas.openxmlformats.org/drawingml/2006/main">
              <a:ext uri="{FF2B5EF4-FFF2-40B4-BE49-F238E27FC236}">
                <a16:creationId xmlns:a16="http://schemas.microsoft.com/office/drawing/2014/main" id="{641BF485-BA10-431C-B08A-B060780096ED}"/>
              </a:ext>
            </a:extLst>
          </p:cNvPr>
          <p:cNvSpPr>
            <a:spLocks xmlns:a="http://schemas.openxmlformats.org/drawingml/2006/main" noGrp="1"/>
          </p:cNvSpPr>
          <p:nvPr/>
        </p:nvSpPr>
        <p:spPr>
          <a:xfrm xmlns:a="http://schemas.openxmlformats.org/drawingml/2006/main">
            <a:off x="11049000" y="62674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i="0">
                <a:solidFill>
                  <a:srgbClr val="E6E6D9"/>
                </a:solidFill>
                <a:latin typeface="Helvetica Neue"/>
                <a:ea typeface="Helvetica Neue"/>
                <a:cs typeface="Helvetica Neue"/>
              </a:defRPr>
            </a:pPr>
            <a:r>
              <a:rPr sz="1350" b="0" i="0">
                <a:solidFill>
                  <a:srgbClr val="E6E6D9"/>
                </a:solidFill>
                <a:latin typeface="Helvetica Neue"/>
                <a:ea typeface="Helvetica Neue"/>
                <a:cs typeface="Helvetica Neue"/>
              </a:rPr>
              <a:t>03</a:t>
            </a:r>
          </a:p>
        </p:txBody>
      </p:sp>
      <p:sp>
        <p:nvSpPr>
          <p:cNvPr id="2" name="title">
            <a:extLst xmlns:a="http://schemas.openxmlformats.org/drawingml/2006/main">
              <a:ext uri="{FF2B5EF4-FFF2-40B4-BE49-F238E27FC236}">
                <a16:creationId xmlns:a16="http://schemas.microsoft.com/office/drawing/2014/main" id="{0044EBA0-E8C9-4CF8-8CD4-DD19BA687EED}"/>
              </a:ext>
            </a:extLst>
          </p:cNvPr>
          <p:cNvSpPr>
            <a:spLocks xmlns:a="http://schemas.openxmlformats.org/drawingml/2006/main" noGrp="1"/>
          </p:cNvSpPr>
          <p:nvPr/>
        </p:nvSpPr>
        <p:spPr>
          <a:xfrm xmlns:a="http://schemas.openxmlformats.org/drawingml/2006/main">
            <a:off x="762000" y="6572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350" b="0" i="0">
                <a:solidFill>
                  <a:srgbClr val="F6F3EB"/>
                </a:solidFill>
                <a:latin typeface="Georgia"/>
                <a:ea typeface="Georgia"/>
                <a:cs typeface="Georgia"/>
              </a:defRPr>
            </a:pPr>
            <a:r>
              <a:rPr sz="4350" b="0" i="0">
                <a:solidFill>
                  <a:srgbClr val="F6F3EB"/>
                </a:solidFill>
                <a:latin typeface="Georgia"/>
                <a:ea typeface="Georgia"/>
                <a:cs typeface="Georgia"/>
              </a:rPr>
              <a:t>A decision worth reusing</a:t>
            </a:r>
          </a:p>
        </p:txBody>
      </p:sp>
      <p:sp>
        <p:nvSpPr>
          <p:cNvPr id="3" name="for-label">
            <a:extLst xmlns:a="http://schemas.openxmlformats.org/drawingml/2006/main">
              <a:ext uri="{FF2B5EF4-FFF2-40B4-BE49-F238E27FC236}">
                <a16:creationId xmlns:a16="http://schemas.microsoft.com/office/drawing/2014/main" id="{DD46805B-EFC6-44F3-A594-5DE4BA51B196}"/>
              </a:ext>
            </a:extLst>
          </p:cNvPr>
          <p:cNvSpPr>
            <a:spLocks xmlns:a="http://schemas.openxmlformats.org/drawingml/2006/main" noGrp="1"/>
          </p:cNvSpPr>
          <p:nvPr/>
        </p:nvSpPr>
        <p:spPr>
          <a:xfrm xmlns:a="http://schemas.openxmlformats.org/drawingml/2006/main">
            <a:off x="800100" y="2238375"/>
            <a:ext cx="4667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i="0">
                <a:solidFill>
                  <a:srgbClr val="F1B296"/>
                </a:solidFill>
                <a:latin typeface="Helvetica Neue"/>
                <a:ea typeface="Helvetica Neue"/>
                <a:cs typeface="Helvetica Neue"/>
              </a:defRPr>
            </a:pPr>
            <a:r>
              <a:rPr sz="2550" b="0" i="0">
                <a:solidFill>
                  <a:srgbClr val="F1B296"/>
                </a:solidFill>
                <a:latin typeface="Helvetica Neue"/>
                <a:ea typeface="Helvetica Neue"/>
                <a:cs typeface="Helvetica Neue"/>
              </a:rPr>
              <a:t>Who it’s for</a:t>
            </a:r>
          </a:p>
        </p:txBody>
      </p:sp>
      <p:sp>
        <p:nvSpPr>
          <p:cNvPr id="4" name="for-body">
            <a:extLst xmlns:a="http://schemas.openxmlformats.org/drawingml/2006/main">
              <a:ext uri="{FF2B5EF4-FFF2-40B4-BE49-F238E27FC236}">
                <a16:creationId xmlns:a16="http://schemas.microsoft.com/office/drawing/2014/main" id="{361105A2-C722-4494-9696-D60A0765DA59}"/>
              </a:ext>
            </a:extLst>
          </p:cNvPr>
          <p:cNvSpPr>
            <a:spLocks xmlns:a="http://schemas.openxmlformats.org/drawingml/2006/main" noGrp="1"/>
          </p:cNvSpPr>
          <p:nvPr/>
        </p:nvSpPr>
        <p:spPr>
          <a:xfrm xmlns:a="http://schemas.openxmlformats.org/drawingml/2006/main">
            <a:off x="800100" y="2924175"/>
            <a:ext cx="4724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i="0">
                <a:solidFill>
                  <a:srgbClr val="F6F3EB"/>
                </a:solidFill>
                <a:latin typeface="Helvetica Neue"/>
                <a:ea typeface="Helvetica Neue"/>
                <a:cs typeface="Helvetica Neue"/>
              </a:defRPr>
            </a:pPr>
            <a:r>
              <a:rPr sz="2400" b="0" i="0">
                <a:solidFill>
                  <a:srgbClr val="F6F3EB"/>
                </a:solidFill>
                <a:latin typeface="Helvetica Neue"/>
                <a:ea typeface="Helvetica Neue"/>
                <a:cs typeface="Helvetica Neue"/>
              </a:rPr>
              <a:t>Someone considering a rich</a:t>
            </a:r>
          </a:p>
          <a:p xmlns:a="http://schemas.openxmlformats.org/drawingml/2006/main">
            <a:pPr algn="l">
              <a:lnSpc>
                <a:spcPct val="112000"/>
              </a:lnSpc>
              <a:buNone/>
              <a:defRPr sz="2400" b="0" i="0">
                <a:solidFill>
                  <a:srgbClr val="F6F3EB"/>
                </a:solidFill>
                <a:latin typeface="Helvetica Neue"/>
                <a:ea typeface="Helvetica Neue"/>
                <a:cs typeface="Helvetica Neue"/>
              </a:defRPr>
            </a:pPr>
            <a:r>
              <a:rPr sz="2400" b="0" i="0">
                <a:solidFill>
                  <a:srgbClr val="F6F3EB"/>
                </a:solidFill>
                <a:latin typeface="Helvetica Neue"/>
                <a:ea typeface="Helvetica Neue"/>
                <a:cs typeface="Helvetica Neue"/>
              </a:rPr>
              <a:t>moisturiser for dry skin.</a:t>
            </a:r>
          </a:p>
        </p:txBody>
      </p:sp>
      <p:sp>
        <p:nvSpPr>
          <p:cNvPr id="5" name="skip-label">
            <a:extLst xmlns:a="http://schemas.openxmlformats.org/drawingml/2006/main">
              <a:ext uri="{FF2B5EF4-FFF2-40B4-BE49-F238E27FC236}">
                <a16:creationId xmlns:a16="http://schemas.microsoft.com/office/drawing/2014/main" id="{C3713BD4-9138-43A0-8172-8EC3E39FAD6D}"/>
              </a:ext>
            </a:extLst>
          </p:cNvPr>
          <p:cNvSpPr>
            <a:spLocks xmlns:a="http://schemas.openxmlformats.org/drawingml/2006/main" noGrp="1"/>
          </p:cNvSpPr>
          <p:nvPr/>
        </p:nvSpPr>
        <p:spPr>
          <a:xfrm xmlns:a="http://schemas.openxmlformats.org/drawingml/2006/main">
            <a:off x="7000875" y="2238375"/>
            <a:ext cx="44481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i="0">
                <a:solidFill>
                  <a:srgbClr val="F1B296"/>
                </a:solidFill>
                <a:latin typeface="Helvetica Neue"/>
                <a:ea typeface="Helvetica Neue"/>
                <a:cs typeface="Helvetica Neue"/>
              </a:defRPr>
            </a:pPr>
            <a:r>
              <a:rPr sz="2550" b="0" i="0">
                <a:solidFill>
                  <a:srgbClr val="F1B296"/>
                </a:solidFill>
                <a:latin typeface="Helvetica Neue"/>
                <a:ea typeface="Helvetica Neue"/>
                <a:cs typeface="Helvetica Neue"/>
              </a:rPr>
              <a:t>When to skip it</a:t>
            </a:r>
          </a:p>
        </p:txBody>
      </p:sp>
      <p:sp>
        <p:nvSpPr>
          <p:cNvPr id="6" name="skip-body">
            <a:extLst xmlns:a="http://schemas.openxmlformats.org/drawingml/2006/main">
              <a:ext uri="{FF2B5EF4-FFF2-40B4-BE49-F238E27FC236}">
                <a16:creationId xmlns:a16="http://schemas.microsoft.com/office/drawing/2014/main" id="{0919BCCC-569C-4494-BFA2-3753D74DED9A}"/>
              </a:ext>
            </a:extLst>
          </p:cNvPr>
          <p:cNvSpPr>
            <a:spLocks xmlns:a="http://schemas.openxmlformats.org/drawingml/2006/main" noGrp="1"/>
          </p:cNvSpPr>
          <p:nvPr/>
        </p:nvSpPr>
        <p:spPr>
          <a:xfrm xmlns:a="http://schemas.openxmlformats.org/drawingml/2006/main">
            <a:off x="7000875" y="2924175"/>
            <a:ext cx="44481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i="0">
                <a:solidFill>
                  <a:srgbClr val="F6F3EB"/>
                </a:solidFill>
                <a:latin typeface="Helvetica Neue"/>
                <a:ea typeface="Helvetica Neue"/>
                <a:cs typeface="Helvetica Neue"/>
              </a:defRPr>
            </a:pPr>
            <a:r>
              <a:rPr sz="2400" b="0" i="0">
                <a:solidFill>
                  <a:srgbClr val="F6F3EB"/>
                </a:solidFill>
                <a:latin typeface="Helvetica Neue"/>
                <a:ea typeface="Helvetica Neue"/>
                <a:cs typeface="Helvetica Neue"/>
              </a:rPr>
              <a:t>Your current moisturiser</a:t>
            </a:r>
          </a:p>
          <a:p xmlns:a="http://schemas.openxmlformats.org/drawingml/2006/main">
            <a:pPr algn="l">
              <a:lnSpc>
                <a:spcPct val="112000"/>
              </a:lnSpc>
              <a:buNone/>
              <a:defRPr sz="2400" b="0" i="0">
                <a:solidFill>
                  <a:srgbClr val="F6F3EB"/>
                </a:solidFill>
                <a:latin typeface="Helvetica Neue"/>
                <a:ea typeface="Helvetica Neue"/>
                <a:cs typeface="Helvetica Neue"/>
              </a:defRPr>
            </a:pPr>
            <a:r>
              <a:rPr sz="2400" b="0" i="0">
                <a:solidFill>
                  <a:srgbClr val="F6F3EB"/>
                </a:solidFill>
                <a:latin typeface="Helvetica Neue"/>
                <a:ea typeface="Helvetica Neue"/>
                <a:cs typeface="Helvetica Neue"/>
              </a:rPr>
              <a:t>already does the job.</a:t>
            </a:r>
          </a:p>
        </p:txBody>
      </p:sp>
      <p:sp>
        <p:nvSpPr>
          <p:cNvPr id="7" name="review">
            <a:extLst xmlns:a="http://schemas.openxmlformats.org/drawingml/2006/main">
              <a:ext uri="{FF2B5EF4-FFF2-40B4-BE49-F238E27FC236}">
                <a16:creationId xmlns:a16="http://schemas.microsoft.com/office/drawing/2014/main" id="{9491990F-889A-40FD-8CEA-3582E9A142D6}"/>
              </a:ext>
            </a:extLst>
          </p:cNvPr>
          <p:cNvSpPr>
            <a:spLocks xmlns:a="http://schemas.openxmlformats.org/drawingml/2006/main" noGrp="1"/>
          </p:cNvSpPr>
          <p:nvPr/>
        </p:nvSpPr>
        <p:spPr>
          <a:xfrm xmlns:a="http://schemas.openxmlformats.org/drawingml/2006/main">
            <a:off x="800100" y="5057775"/>
            <a:ext cx="5857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0" i="0">
                <a:solidFill>
                  <a:srgbClr val="F6F3EB"/>
                </a:solidFill>
                <a:latin typeface="Georgia"/>
                <a:ea typeface="Georgia"/>
                <a:cs typeface="Georgia"/>
              </a:defRPr>
            </a:pPr>
            <a:r>
              <a:rPr sz="3300" b="0" i="0">
                <a:solidFill>
                  <a:srgbClr val="F6F3EB"/>
                </a:solidFill>
                <a:latin typeface="Georgia"/>
                <a:ea typeface="Georgia"/>
                <a:cs typeface="Georgia"/>
              </a:rPr>
              <a:t>Maya reviews the call.</a:t>
            </a:r>
          </a:p>
        </p:txBody>
      </p:sp>
      <p:sp>
        <p:nvSpPr>
          <p:cNvPr id="8" name="reuse">
            <a:extLst xmlns:a="http://schemas.openxmlformats.org/drawingml/2006/main">
              <a:ext uri="{FF2B5EF4-FFF2-40B4-BE49-F238E27FC236}">
                <a16:creationId xmlns:a16="http://schemas.microsoft.com/office/drawing/2014/main" id="{22B62997-CD56-4541-B545-94DDAEF28604}"/>
              </a:ext>
            </a:extLst>
          </p:cNvPr>
          <p:cNvSpPr>
            <a:spLocks xmlns:a="http://schemas.openxmlformats.org/drawingml/2006/main" noGrp="1"/>
          </p:cNvSpPr>
          <p:nvPr/>
        </p:nvSpPr>
        <p:spPr>
          <a:xfrm xmlns:a="http://schemas.openxmlformats.org/drawingml/2006/main">
            <a:off x="7000875" y="5019675"/>
            <a:ext cx="4514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i="0">
                <a:solidFill>
                  <a:srgbClr val="E6E6D9"/>
                </a:solidFill>
                <a:latin typeface="Helvetica Neue"/>
                <a:ea typeface="Helvetica Neue"/>
                <a:cs typeface="Helvetica Neue"/>
              </a:defRPr>
            </a:pPr>
            <a:r>
              <a:rPr sz="1950" b="0" i="0">
                <a:solidFill>
                  <a:srgbClr val="E6E6D9"/>
                </a:solidFill>
                <a:latin typeface="Helvetica Neue"/>
                <a:ea typeface="Helvetica Neue"/>
                <a:cs typeface="Helvetica Neue"/>
              </a:rPr>
              <a:t>A starting point for the next question.</a:t>
            </a:r>
          </a:p>
          <a:p xmlns:a="http://schemas.openxmlformats.org/drawingml/2006/main">
            <a:pPr algn="l">
              <a:lnSpc>
                <a:spcPct val="112000"/>
              </a:lnSpc>
              <a:buNone/>
              <a:defRPr sz="1950" b="0" i="0">
                <a:solidFill>
                  <a:srgbClr val="E6E6D9"/>
                </a:solidFill>
                <a:latin typeface="Helvetica Neue"/>
                <a:ea typeface="Helvetica Neue"/>
                <a:cs typeface="Helvetica Neue"/>
              </a:defRPr>
            </a:pPr>
            <a:r>
              <a:rPr sz="1950" b="0" i="0">
                <a:solidFill>
                  <a:srgbClr val="E6E6D9"/>
                </a:solidFill>
                <a:latin typeface="Helvetica Neue"/>
                <a:ea typeface="Helvetica Neue"/>
                <a:cs typeface="Helvetica Neue"/>
              </a:rPr>
              <a:t>Fresh context. Fresh evidence checks.</a:t>
            </a:r>
          </a:p>
        </p:txBody>
      </p:sp>
    </p:spTree>
    <p:extLst>
      <p:ext uri="{BB962C8B-B14F-4D97-AF65-F5344CB8AC3E}">
        <p14:creationId xmlns:p14="http://schemas.microsoft.com/office/powerpoint/2010/main" val="561808834"/>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page-number">
            <a:extLst xmlns:a="http://schemas.openxmlformats.org/drawingml/2006/main">
              <a:ext uri="{FF2B5EF4-FFF2-40B4-BE49-F238E27FC236}">
                <a16:creationId xmlns:a16="http://schemas.microsoft.com/office/drawing/2014/main" id="{96B8C61C-C645-46EE-A853-8DA6524F25B9}"/>
              </a:ext>
            </a:extLst>
          </p:cNvPr>
          <p:cNvSpPr>
            <a:spLocks xmlns:a="http://schemas.openxmlformats.org/drawingml/2006/main" noGrp="1"/>
          </p:cNvSpPr>
          <p:nvPr/>
        </p:nvSpPr>
        <p:spPr>
          <a:xfrm xmlns:a="http://schemas.openxmlformats.org/drawingml/2006/main">
            <a:off x="11049000" y="62674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i="0">
                <a:solidFill>
                  <a:srgbClr val="65705E"/>
                </a:solidFill>
                <a:latin typeface="Helvetica Neue"/>
                <a:ea typeface="Helvetica Neue"/>
                <a:cs typeface="Helvetica Neue"/>
              </a:defRPr>
            </a:pPr>
            <a:r>
              <a:rPr sz="1350" b="0" i="0">
                <a:solidFill>
                  <a:srgbClr val="65705E"/>
                </a:solidFill>
                <a:latin typeface="Helvetica Neue"/>
                <a:ea typeface="Helvetica Neue"/>
                <a:cs typeface="Helvetica Neue"/>
              </a:rPr>
              <a:t>04</a:t>
            </a:r>
          </a:p>
        </p:txBody>
      </p:sp>
      <p:sp>
        <p:nvSpPr>
          <p:cNvPr id="2" name="title">
            <a:extLst xmlns:a="http://schemas.openxmlformats.org/drawingml/2006/main">
              <a:ext uri="{FF2B5EF4-FFF2-40B4-BE49-F238E27FC236}">
                <a16:creationId xmlns:a16="http://schemas.microsoft.com/office/drawing/2014/main" id="{22F384F9-E796-4BF1-BE7E-FB2F3BB90729}"/>
              </a:ext>
            </a:extLst>
          </p:cNvPr>
          <p:cNvSpPr>
            <a:spLocks xmlns:a="http://schemas.openxmlformats.org/drawingml/2006/main" noGrp="1"/>
          </p:cNvSpPr>
          <p:nvPr/>
        </p:nvSpPr>
        <p:spPr>
          <a:xfrm xmlns:a="http://schemas.openxmlformats.org/drawingml/2006/main">
            <a:off x="762000" y="6572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350" b="0" i="0">
                <a:solidFill>
                  <a:srgbClr val="2E352C"/>
                </a:solidFill>
                <a:latin typeface="Georgia"/>
                <a:ea typeface="Georgia"/>
                <a:cs typeface="Georgia"/>
              </a:defRPr>
            </a:pPr>
            <a:r>
              <a:rPr sz="4350" b="0" i="0">
                <a:solidFill>
                  <a:srgbClr val="2E352C"/>
                </a:solidFill>
                <a:latin typeface="Georgia"/>
                <a:ea typeface="Georgia"/>
                <a:cs typeface="Georgia"/>
              </a:rPr>
              <a:t>The missing-record check</a:t>
            </a:r>
          </a:p>
        </p:txBody>
      </p:sp>
      <p:sp>
        <p:nvSpPr>
          <p:cNvPr id="3" name="issue-name">
            <a:extLst xmlns:a="http://schemas.openxmlformats.org/drawingml/2006/main">
              <a:ext uri="{FF2B5EF4-FFF2-40B4-BE49-F238E27FC236}">
                <a16:creationId xmlns:a16="http://schemas.microsoft.com/office/drawing/2014/main" id="{5DE03236-5DF4-4B8F-9C25-91C5EC8BE2BF}"/>
              </a:ext>
            </a:extLst>
          </p:cNvPr>
          <p:cNvSpPr>
            <a:spLocks xmlns:a="http://schemas.openxmlformats.org/drawingml/2006/main" noGrp="1"/>
          </p:cNvSpPr>
          <p:nvPr/>
        </p:nvSpPr>
        <p:spPr>
          <a:xfrm xmlns:a="http://schemas.openxmlformats.org/drawingml/2006/main">
            <a:off x="800100" y="216217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050" b="0" i="0">
                <a:solidFill>
                  <a:srgbClr val="2E352C"/>
                </a:solidFill>
                <a:latin typeface="Georgia"/>
                <a:ea typeface="Georgia"/>
                <a:cs typeface="Georgia"/>
              </a:defRPr>
            </a:pPr>
            <a:r>
              <a:rPr sz="4050" b="0" i="0">
                <a:solidFill>
                  <a:srgbClr val="2E352C"/>
                </a:solidFill>
                <a:latin typeface="Georgia"/>
                <a:ea typeface="Georgia"/>
                <a:cs typeface="Georgia"/>
              </a:rPr>
              <a:t>Barrier Cream</a:t>
            </a:r>
          </a:p>
        </p:txBody>
      </p:sp>
      <p:sp>
        <p:nvSpPr>
          <p:cNvPr id="4" name="issue-fact">
            <a:extLst xmlns:a="http://schemas.openxmlformats.org/drawingml/2006/main">
              <a:ext uri="{FF2B5EF4-FFF2-40B4-BE49-F238E27FC236}">
                <a16:creationId xmlns:a16="http://schemas.microsoft.com/office/drawing/2014/main" id="{CF3742FF-3CE2-4765-BAB2-A04AA89D6C59}"/>
              </a:ext>
            </a:extLst>
          </p:cNvPr>
          <p:cNvSpPr>
            <a:spLocks xmlns:a="http://schemas.openxmlformats.org/drawingml/2006/main" noGrp="1"/>
          </p:cNvSpPr>
          <p:nvPr/>
        </p:nvSpPr>
        <p:spPr>
          <a:xfrm xmlns:a="http://schemas.openxmlformats.org/drawingml/2006/main">
            <a:off x="800100" y="3105150"/>
            <a:ext cx="65055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i="0">
                <a:solidFill>
                  <a:srgbClr val="2E352C"/>
                </a:solidFill>
                <a:latin typeface="Helvetica Neue"/>
                <a:ea typeface="Helvetica Neue"/>
                <a:cs typeface="Helvetica Neue"/>
              </a:defRPr>
            </a:pPr>
            <a:r>
              <a:rPr sz="2400" b="0" i="0">
                <a:solidFill>
                  <a:srgbClr val="2E352C"/>
                </a:solidFill>
                <a:latin typeface="Helvetica Neue"/>
                <a:ea typeface="Helvetica Neue"/>
                <a:cs typeface="Helvetica Neue"/>
              </a:rPr>
              <a:t>Mentioned in a question.</a:t>
            </a:r>
          </a:p>
          <a:p xmlns:a="http://schemas.openxmlformats.org/drawingml/2006/main">
            <a:pPr algn="l">
              <a:lnSpc>
                <a:spcPct val="112000"/>
              </a:lnSpc>
              <a:buNone/>
              <a:defRPr sz="2400" b="0" i="0">
                <a:solidFill>
                  <a:srgbClr val="2E352C"/>
                </a:solidFill>
                <a:latin typeface="Helvetica Neue"/>
                <a:ea typeface="Helvetica Neue"/>
                <a:cs typeface="Helvetica Neue"/>
              </a:defRPr>
            </a:pPr>
            <a:r>
              <a:rPr sz="2400" b="0" i="0">
                <a:solidFill>
                  <a:srgbClr val="2E352C"/>
                </a:solidFill>
                <a:latin typeface="Helvetica Neue"/>
                <a:ea typeface="Helvetica Neue"/>
                <a:cs typeface="Helvetica Neue"/>
              </a:rPr>
              <a:t>Absent from the product catalogue.</a:t>
            </a:r>
          </a:p>
        </p:txBody>
      </p:sp>
      <p:sp>
        <p:nvSpPr>
          <p:cNvPr id="5" name="hold">
            <a:extLst xmlns:a="http://schemas.openxmlformats.org/drawingml/2006/main">
              <a:ext uri="{FF2B5EF4-FFF2-40B4-BE49-F238E27FC236}">
                <a16:creationId xmlns:a16="http://schemas.microsoft.com/office/drawing/2014/main" id="{7E684E14-1EAD-4A1C-8224-4BF9C033B241}"/>
              </a:ext>
            </a:extLst>
          </p:cNvPr>
          <p:cNvSpPr>
            <a:spLocks xmlns:a="http://schemas.openxmlformats.org/drawingml/2006/main" noGrp="1"/>
          </p:cNvSpPr>
          <p:nvPr/>
        </p:nvSpPr>
        <p:spPr>
          <a:xfrm xmlns:a="http://schemas.openxmlformats.org/drawingml/2006/main">
            <a:off x="8067675" y="2276475"/>
            <a:ext cx="342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900" b="0" i="0">
                <a:solidFill>
                  <a:srgbClr val="A14E3A"/>
                </a:solidFill>
                <a:latin typeface="Georgia"/>
                <a:ea typeface="Georgia"/>
                <a:cs typeface="Georgia"/>
              </a:defRPr>
            </a:pPr>
            <a:r>
              <a:rPr sz="3900" b="0" i="0">
                <a:solidFill>
                  <a:srgbClr val="A14E3A"/>
                </a:solidFill>
                <a:latin typeface="Georgia"/>
                <a:ea typeface="Georgia"/>
                <a:cs typeface="Georgia"/>
              </a:rPr>
              <a:t>Answer held</a:t>
            </a:r>
          </a:p>
          <a:p xmlns:a="http://schemas.openxmlformats.org/drawingml/2006/main">
            <a:pPr algn="l">
              <a:lnSpc>
                <a:spcPct val="112000"/>
              </a:lnSpc>
              <a:buNone/>
              <a:defRPr sz="3900" b="0" i="0">
                <a:solidFill>
                  <a:srgbClr val="A14E3A"/>
                </a:solidFill>
                <a:latin typeface="Georgia"/>
                <a:ea typeface="Georgia"/>
                <a:cs typeface="Georgia"/>
              </a:defRPr>
            </a:pPr>
            <a:r>
              <a:rPr sz="3900" b="0" i="0">
                <a:solidFill>
                  <a:srgbClr val="A14E3A"/>
                </a:solidFill>
                <a:latin typeface="Georgia"/>
                <a:ea typeface="Georgia"/>
                <a:cs typeface="Georgia"/>
              </a:rPr>
              <a:t>for review</a:t>
            </a:r>
          </a:p>
        </p:txBody>
      </p:sp>
      <p:sp>
        <p:nvSpPr>
          <p:cNvPr id="6" name="action-label">
            <a:extLst xmlns:a="http://schemas.openxmlformats.org/drawingml/2006/main">
              <a:ext uri="{FF2B5EF4-FFF2-40B4-BE49-F238E27FC236}">
                <a16:creationId xmlns:a16="http://schemas.microsoft.com/office/drawing/2014/main" id="{AB4716C4-903F-4423-8E7F-A9EB5012107D}"/>
              </a:ext>
            </a:extLst>
          </p:cNvPr>
          <p:cNvSpPr>
            <a:spLocks xmlns:a="http://schemas.openxmlformats.org/drawingml/2006/main" noGrp="1"/>
          </p:cNvSpPr>
          <p:nvPr/>
        </p:nvSpPr>
        <p:spPr>
          <a:xfrm xmlns:a="http://schemas.openxmlformats.org/drawingml/2006/main">
            <a:off x="800100" y="4857750"/>
            <a:ext cx="619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65705E"/>
                </a:solidFill>
                <a:latin typeface="Helvetica Neue"/>
                <a:ea typeface="Helvetica Neue"/>
                <a:cs typeface="Helvetica Neue"/>
              </a:defRPr>
            </a:pPr>
            <a:r>
              <a:rPr sz="1500" b="0" i="0">
                <a:solidFill>
                  <a:srgbClr val="65705E"/>
                </a:solidFill>
                <a:latin typeface="Helvetica Neue"/>
                <a:ea typeface="Helvetica Neue"/>
                <a:cs typeface="Helvetica Neue"/>
              </a:rPr>
              <a:t>NEXT ACTION</a:t>
            </a:r>
          </a:p>
        </p:txBody>
      </p:sp>
      <p:sp>
        <p:nvSpPr>
          <p:cNvPr id="7" name="action">
            <a:extLst xmlns:a="http://schemas.openxmlformats.org/drawingml/2006/main">
              <a:ext uri="{FF2B5EF4-FFF2-40B4-BE49-F238E27FC236}">
                <a16:creationId xmlns:a16="http://schemas.microsoft.com/office/drawing/2014/main" id="{EFDED355-BE46-4632-8FD4-DC21806E4CCC}"/>
              </a:ext>
            </a:extLst>
          </p:cNvPr>
          <p:cNvSpPr>
            <a:spLocks xmlns:a="http://schemas.openxmlformats.org/drawingml/2006/main" noGrp="1"/>
          </p:cNvSpPr>
          <p:nvPr/>
        </p:nvSpPr>
        <p:spPr>
          <a:xfrm xmlns:a="http://schemas.openxmlformats.org/drawingml/2006/main">
            <a:off x="800100" y="53149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0" i="0">
                <a:solidFill>
                  <a:srgbClr val="2E352C"/>
                </a:solidFill>
                <a:latin typeface="Helvetica Neue"/>
                <a:ea typeface="Helvetica Neue"/>
                <a:cs typeface="Helvetica Neue"/>
              </a:defRPr>
            </a:pPr>
            <a:r>
              <a:rPr sz="2550" b="0" i="0">
                <a:solidFill>
                  <a:srgbClr val="2E352C"/>
                </a:solidFill>
                <a:latin typeface="Helvetica Neue"/>
                <a:ea typeface="Helvetica Neue"/>
                <a:cs typeface="Helvetica Neue"/>
              </a:rPr>
              <a:t>Confirm the product and obtain its evidence.</a:t>
            </a:r>
          </a:p>
        </p:txBody>
      </p:sp>
    </p:spTree>
    <p:extLst>
      <p:ext uri="{BB962C8B-B14F-4D97-AF65-F5344CB8AC3E}">
        <p14:creationId xmlns:p14="http://schemas.microsoft.com/office/powerpoint/2010/main" val="989896394"/>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7" name="page-number">
            <a:extLst xmlns:a="http://schemas.openxmlformats.org/drawingml/2006/main">
              <a:ext uri="{FF2B5EF4-FFF2-40B4-BE49-F238E27FC236}">
                <a16:creationId xmlns:a16="http://schemas.microsoft.com/office/drawing/2014/main" id="{4BBFFA3A-DB3B-404D-AC2F-55C6A532A82D}"/>
              </a:ext>
            </a:extLst>
          </p:cNvPr>
          <p:cNvSpPr>
            <a:spLocks xmlns:a="http://schemas.openxmlformats.org/drawingml/2006/main" noGrp="1"/>
          </p:cNvSpPr>
          <p:nvPr/>
        </p:nvSpPr>
        <p:spPr>
          <a:xfrm xmlns:a="http://schemas.openxmlformats.org/drawingml/2006/main">
            <a:off x="11049000" y="62674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350" b="0" i="0">
                <a:solidFill>
                  <a:srgbClr val="65705E"/>
                </a:solidFill>
                <a:latin typeface="Helvetica Neue"/>
                <a:ea typeface="Helvetica Neue"/>
                <a:cs typeface="Helvetica Neue"/>
              </a:defRPr>
            </a:pPr>
            <a:r>
              <a:rPr sz="1350" b="0" i="0">
                <a:solidFill>
                  <a:srgbClr val="65705E"/>
                </a:solidFill>
                <a:latin typeface="Helvetica Neue"/>
                <a:ea typeface="Helvetica Neue"/>
                <a:cs typeface="Helvetica Neue"/>
              </a:rPr>
              <a:t>05</a:t>
            </a:r>
          </a:p>
        </p:txBody>
      </p:sp>
      <p:sp>
        <p:nvSpPr>
          <p:cNvPr id="2" name="title">
            <a:extLst xmlns:a="http://schemas.openxmlformats.org/drawingml/2006/main">
              <a:ext uri="{FF2B5EF4-FFF2-40B4-BE49-F238E27FC236}">
                <a16:creationId xmlns:a16="http://schemas.microsoft.com/office/drawing/2014/main" id="{F86284B3-73CD-46DB-A558-5925EB704411}"/>
              </a:ext>
            </a:extLst>
          </p:cNvPr>
          <p:cNvSpPr>
            <a:spLocks xmlns:a="http://schemas.openxmlformats.org/drawingml/2006/main" noGrp="1"/>
          </p:cNvSpPr>
          <p:nvPr/>
        </p:nvSpPr>
        <p:spPr>
          <a:xfrm xmlns:a="http://schemas.openxmlformats.org/drawingml/2006/main">
            <a:off x="762000" y="6572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350" b="0" i="0">
                <a:solidFill>
                  <a:srgbClr val="2E352C"/>
                </a:solidFill>
                <a:latin typeface="Georgia"/>
                <a:ea typeface="Georgia"/>
                <a:cs typeface="Georgia"/>
              </a:defRPr>
            </a:pPr>
            <a:r>
              <a:rPr sz="4350" b="0" i="0">
                <a:solidFill>
                  <a:srgbClr val="2E352C"/>
                </a:solidFill>
                <a:latin typeface="Georgia"/>
                <a:ea typeface="Georgia"/>
                <a:cs typeface="Georgia"/>
              </a:rPr>
              <a:t>Advice followers can keep</a:t>
            </a:r>
          </a:p>
        </p:txBody>
      </p:sp>
      <p:sp>
        <p:nvSpPr>
          <p:cNvPr id="3" name="main-outcome">
            <a:extLst xmlns:a="http://schemas.openxmlformats.org/drawingml/2006/main">
              <a:ext uri="{FF2B5EF4-FFF2-40B4-BE49-F238E27FC236}">
                <a16:creationId xmlns:a16="http://schemas.microsoft.com/office/drawing/2014/main" id="{D707E838-2035-4247-8D18-9885AC7385EE}"/>
              </a:ext>
            </a:extLst>
          </p:cNvPr>
          <p:cNvSpPr>
            <a:spLocks xmlns:a="http://schemas.openxmlformats.org/drawingml/2006/main" noGrp="1"/>
          </p:cNvSpPr>
          <p:nvPr/>
        </p:nvSpPr>
        <p:spPr>
          <a:xfrm xmlns:a="http://schemas.openxmlformats.org/drawingml/2006/main">
            <a:off x="762000" y="2276475"/>
            <a:ext cx="106299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0" i="0">
                <a:solidFill>
                  <a:srgbClr val="2E352C"/>
                </a:solidFill>
                <a:latin typeface="Georgia"/>
                <a:ea typeface="Georgia"/>
                <a:cs typeface="Georgia"/>
              </a:defRPr>
            </a:pPr>
            <a:r>
              <a:rPr sz="4275" b="0" i="0">
                <a:solidFill>
                  <a:srgbClr val="2E352C"/>
                </a:solidFill>
                <a:latin typeface="Georgia"/>
                <a:ea typeface="Georgia"/>
                <a:cs typeface="Georgia"/>
              </a:rPr>
              <a:t>Save a reviewed answer.</a:t>
            </a:r>
          </a:p>
          <a:p xmlns:a="http://schemas.openxmlformats.org/drawingml/2006/main">
            <a:pPr algn="l">
              <a:lnSpc>
                <a:spcPct val="112000"/>
              </a:lnSpc>
              <a:buNone/>
              <a:defRPr sz="4275" b="0" i="0">
                <a:solidFill>
                  <a:srgbClr val="2E352C"/>
                </a:solidFill>
                <a:latin typeface="Georgia"/>
                <a:ea typeface="Georgia"/>
                <a:cs typeface="Georgia"/>
              </a:defRPr>
            </a:pPr>
            <a:r>
              <a:rPr sz="4275" b="0" i="0">
                <a:solidFill>
                  <a:srgbClr val="2E352C"/>
                </a:solidFill>
                <a:latin typeface="Georgia"/>
                <a:ea typeface="Georgia"/>
                <a:cs typeface="Georgia"/>
              </a:rPr>
              <a:t>Share it. Return when ready.</a:t>
            </a:r>
          </a:p>
        </p:txBody>
      </p:sp>
      <p:sp>
        <p:nvSpPr>
          <p:cNvPr id="4" name="voice">
            <a:extLst xmlns:a="http://schemas.openxmlformats.org/drawingml/2006/main">
              <a:ext uri="{FF2B5EF4-FFF2-40B4-BE49-F238E27FC236}">
                <a16:creationId xmlns:a16="http://schemas.microsoft.com/office/drawing/2014/main" id="{B0545295-E792-49BF-91ED-013AE7162BEE}"/>
              </a:ext>
            </a:extLst>
          </p:cNvPr>
          <p:cNvSpPr>
            <a:spLocks xmlns:a="http://schemas.openxmlformats.org/drawingml/2006/main" noGrp="1"/>
          </p:cNvSpPr>
          <p:nvPr/>
        </p:nvSpPr>
        <p:spPr>
          <a:xfrm xmlns:a="http://schemas.openxmlformats.org/drawingml/2006/main">
            <a:off x="800100" y="4238625"/>
            <a:ext cx="1047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i="0">
                <a:solidFill>
                  <a:srgbClr val="65705E"/>
                </a:solidFill>
                <a:latin typeface="Helvetica Neue"/>
                <a:ea typeface="Helvetica Neue"/>
                <a:cs typeface="Helvetica Neue"/>
              </a:defRPr>
            </a:pPr>
            <a:r>
              <a:rPr sz="2250" b="0" i="0">
                <a:solidFill>
                  <a:srgbClr val="65705E"/>
                </a:solidFill>
                <a:latin typeface="Helvetica Neue"/>
                <a:ea typeface="Helvetica Neue"/>
                <a:cs typeface="Helvetica Neue"/>
              </a:rPr>
              <a:t>Chat with Maya includes optional dictation</a:t>
            </a:r>
          </a:p>
          <a:p xmlns:a="http://schemas.openxmlformats.org/drawingml/2006/main">
            <a:pPr algn="l">
              <a:lnSpc>
                <a:spcPct val="112000"/>
              </a:lnSpc>
              <a:buNone/>
              <a:defRPr sz="2250" b="0" i="0">
                <a:solidFill>
                  <a:srgbClr val="65705E"/>
                </a:solidFill>
                <a:latin typeface="Helvetica Neue"/>
                <a:ea typeface="Helvetica Neue"/>
                <a:cs typeface="Helvetica Neue"/>
              </a:defRPr>
            </a:pPr>
            <a:r>
              <a:rPr sz="2250" b="0" i="0">
                <a:solidFill>
                  <a:srgbClr val="65705E"/>
                </a:solidFill>
                <a:latin typeface="Helvetica Neue"/>
                <a:ea typeface="Helvetica Neue"/>
                <a:cs typeface="Helvetica Neue"/>
              </a:rPr>
              <a:t>and spoken replies.</a:t>
            </a:r>
          </a:p>
        </p:txBody>
      </p:sp>
      <p:sp>
        <p:nvSpPr>
          <p:cNvPr id="5" name="closing">
            <a:extLst xmlns:a="http://schemas.openxmlformats.org/drawingml/2006/main">
              <a:ext uri="{FF2B5EF4-FFF2-40B4-BE49-F238E27FC236}">
                <a16:creationId xmlns:a16="http://schemas.microsoft.com/office/drawing/2014/main" id="{AF3968E0-DEE4-401E-956F-ADC43632B4D2}"/>
              </a:ext>
            </a:extLst>
          </p:cNvPr>
          <p:cNvSpPr>
            <a:spLocks xmlns:a="http://schemas.openxmlformats.org/drawingml/2006/main" noGrp="1"/>
          </p:cNvSpPr>
          <p:nvPr/>
        </p:nvSpPr>
        <p:spPr>
          <a:xfrm xmlns:a="http://schemas.openxmlformats.org/drawingml/2006/main">
            <a:off x="800100" y="53911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0" i="0">
                <a:solidFill>
                  <a:srgbClr val="A14E3A"/>
                </a:solidFill>
                <a:latin typeface="Georgia"/>
                <a:ea typeface="Georgia"/>
                <a:cs typeface="Georgia"/>
              </a:defRPr>
            </a:pPr>
            <a:r>
              <a:rPr sz="3225" b="0" i="0">
                <a:solidFill>
                  <a:srgbClr val="A14E3A"/>
                </a:solidFill>
                <a:latin typeface="Georgia"/>
                <a:ea typeface="Georgia"/>
                <a:cs typeface="Georgia"/>
              </a:rPr>
              <a:t>Maya still makes the call.</a:t>
            </a:r>
          </a:p>
        </p:txBody>
      </p:sp>
      <p:sp>
        <p:nvSpPr>
          <p:cNvPr id="6" name="status">
            <a:extLst xmlns:a="http://schemas.openxmlformats.org/drawingml/2006/main">
              <a:ext uri="{FF2B5EF4-FFF2-40B4-BE49-F238E27FC236}">
                <a16:creationId xmlns:a16="http://schemas.microsoft.com/office/drawing/2014/main" id="{14204555-6C24-482F-912D-36FBA2FB2EF2}"/>
              </a:ext>
            </a:extLst>
          </p:cNvPr>
          <p:cNvSpPr>
            <a:spLocks xmlns:a="http://schemas.openxmlformats.org/drawingml/2006/main" noGrp="1"/>
          </p:cNvSpPr>
          <p:nvPr/>
        </p:nvSpPr>
        <p:spPr>
          <a:xfrm xmlns:a="http://schemas.openxmlformats.org/drawingml/2006/main">
            <a:off x="800100" y="6238875"/>
            <a:ext cx="971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i="0">
                <a:solidFill>
                  <a:srgbClr val="65705E"/>
                </a:solidFill>
                <a:latin typeface="Helvetica Neue"/>
                <a:ea typeface="Helvetica Neue"/>
                <a:cs typeface="Helvetica Neue"/>
              </a:defRPr>
            </a:pPr>
            <a:r>
              <a:rPr sz="1425" b="0" i="0">
                <a:solidFill>
                  <a:srgbClr val="65705E"/>
                </a:solidFill>
                <a:latin typeface="Helvetica Neue"/>
                <a:ea typeface="Helvetica Neue"/>
                <a:cs typeface="Helvetica Neue"/>
              </a:rPr>
              <a:t>Local prototype using evidence templates and synthetic speech</a:t>
            </a:r>
          </a:p>
        </p:txBody>
      </p:sp>
    </p:spTree>
    <p:extLst>
      <p:ext uri="{BB962C8B-B14F-4D97-AF65-F5344CB8AC3E}">
        <p14:creationId xmlns:p14="http://schemas.microsoft.com/office/powerpoint/2010/main" val="1168226495"/>
      </p:ext>
    </p:extLst>
  </p:cSld>
</p:sld>
</file>

<file path=ppt/theme/theme1.xml><?xml version="1.0" encoding="utf-8"?>
<a:theme xmlns:a="http://schemas.openxmlformats.org/drawingml/2006/main" name="ChatGPT">
  <a:themeElements>
    <a:clrScheme name="GoodCall warm studio">
      <a:dk1>
        <a:srgbClr val="2E352C"/>
      </a:dk1>
      <a:lt1>
        <a:srgbClr val="FFFFFF"/>
      </a:lt1>
      <a:dk2>
        <a:srgbClr val="42493C"/>
      </a:dk2>
      <a:lt2>
        <a:srgbClr val="F6F3EB"/>
      </a:lt2>
      <a:accent1>
        <a:srgbClr val="A14E3A"/>
      </a:accent1>
      <a:accent2>
        <a:srgbClr val="65705E"/>
      </a:accent2>
      <a:accent3>
        <a:srgbClr val="718799"/>
      </a:accent3>
      <a:accent4>
        <a:srgbClr val="B18438"/>
      </a:accent4>
      <a:accent5>
        <a:srgbClr val="795565"/>
      </a:accent5>
      <a:accent6>
        <a:srgbClr val="546B3D"/>
      </a:accent6>
      <a:hlink>
        <a:srgbClr val="A14E3A"/>
      </a:hlink>
      <a:folHlink>
        <a:srgbClr val="A14E3A"/>
      </a:folHlink>
    </a:clrScheme>
    <a:fontScheme name="Office">
      <a:majorFont>
        <a:latin typeface="Calibri Light"/>
        <a:ea typeface="Calibri Light"/>
        <a:cs typeface="Calibri Light"/>
      </a:majorFont>
      <a:minorFont>
        <a:latin typeface="Calibri"/>
        <a:ea typeface="Calibri"/>
        <a:cs typeface="Calibri"/>
      </a:minorFont>
    </a:fontScheme>
    <a:fmtScheme name="GoodCall warm stud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2026-09-20T11:19:59.9770000Z</dcterms:created>
  <dcterms:modified xsi:type="dcterms:W3CDTF">2026-09-20T11:19:59.9770000Z</dcterms:modified>
</coreProperties>
</file>